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47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on original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0.38900000000000001</c:v>
                </c:pt>
                <c:pt idx="1">
                  <c:v>0.42299999999999999</c:v>
                </c:pt>
                <c:pt idx="2">
                  <c:v>0.32300000000000001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8B-420B-94D7-8513D9CDD2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on degraded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0.46400000000000002</c:v>
                </c:pt>
                <c:pt idx="1">
                  <c:v>0.24299999999999999</c:v>
                </c:pt>
                <c:pt idx="2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8B-420B-94D7-8513D9CDD2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500000000000000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64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C0BE"/>
          </a:solidFill>
          <a:ln w="127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REPORT  |  WEEK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Sentiment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visual sentiment on the MSCTD En-De multimodal dialogue corpus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5486400" cy="0"/>
          </a:xfrm>
          <a:prstGeom prst="line">
            <a:avLst/>
          </a:prstGeom>
          <a:noFill/>
          <a:ln w="254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Sameer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6944091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preparation, GitHub &amp; logs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30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Ammineni Harshitha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630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6952560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3630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extraction &amp; face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0142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Tharigopula Sai Teja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40142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6945944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0142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&amp; robustness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3982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Kakumanu Ravi Teja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43982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6905377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3982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Full-image transfer learning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7823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 Curran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7823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6946833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782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model &amp; multimodal CLIP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EEEM068 Applied Machine Learning   |   Convenor: Dr. Sobhan Asasi   |   Friday, 1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Dataset &amp;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" cy="4206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</a:t>
            </a: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neutral / positive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sentiment from a single dialogue image (and optionally its English utterance).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Sparse, ambiguous facial cues - many neutral/mild expressions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No-face frames (objects, side profiles, occlusions) require fallback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Multi-speaker scenes need per-face aggregation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- macro-F1 is the headline metric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- MSCTD (En-De)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~30,370 utterances across ~3,000 dialogue scenes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Re-stratified 70 / 15 / 15 split at the SCENE level (seed 42) - prevents context leakage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data/processed/msctd_master.csv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7033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9224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16052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stream:  MTCNN  -&gt;  ResNet-18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stream:  frozen ResNet-50  +  MLP head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 MLP (face_probs + image_probs + num_faces + flag)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credit:  CLIP image+text multimodal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7-Notebook Pipeline &amp; Current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910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91056" cy="73152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21792" y="31089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554480"/>
            <a:ext cx="15910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103120" y="1554480"/>
            <a:ext cx="1591056" cy="73152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03120" y="17373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94560" y="22677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extraction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67712" y="31089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267712" y="31089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554480"/>
            <a:ext cx="15910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749040" y="1554480"/>
            <a:ext cx="1591056" cy="73152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749040" y="17373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40480" y="22677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model (ResNet-18)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13632" y="31089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913632" y="31089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1554480"/>
            <a:ext cx="15910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394960" y="1554480"/>
            <a:ext cx="1591056" cy="7315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394960" y="17373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0" y="22677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&amp; robustness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59552" y="31089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559552" y="31089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1554480"/>
            <a:ext cx="15910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7040880" y="1554480"/>
            <a:ext cx="1591056" cy="73152"/>
          </a:xfrm>
          <a:prstGeom prst="rect">
            <a:avLst/>
          </a:prstGeom>
          <a:solidFill>
            <a:srgbClr val="5A6776"/>
          </a:solidFill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040880" y="17373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132320" y="22677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Full-image ResNet-50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05472" y="31089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5A6776"/>
          </a:solidFill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205472" y="31089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0" y="1554480"/>
            <a:ext cx="15910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686800" y="1554480"/>
            <a:ext cx="1591056" cy="73152"/>
          </a:xfrm>
          <a:prstGeom prst="rect">
            <a:avLst/>
          </a:prstGeom>
          <a:solidFill>
            <a:srgbClr val="5A6776"/>
          </a:solidFill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686800" y="17373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778240" y="22677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Late-fusion MLP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51392" y="31089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5A6776"/>
          </a:solidFill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851392" y="31089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332720" y="1554480"/>
            <a:ext cx="159105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0332720" y="1554480"/>
            <a:ext cx="1591056" cy="73152"/>
          </a:xfrm>
          <a:prstGeom prst="rect">
            <a:avLst/>
          </a:prstGeom>
          <a:solidFill>
            <a:srgbClr val="5A6776"/>
          </a:solidFill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0332720" y="173736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10424160" y="22677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multimodal (extra)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497312" y="31089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5A6776"/>
          </a:solidFill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0497312" y="31089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457200" y="4023360"/>
            <a:ext cx="56235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 notebooks complete   |   1 currently running   |   3 remaining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4754880"/>
            <a:ext cx="54864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21792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Scene-level split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1792" y="50749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stratified on scene_id (seed 42) - no dialogue context leaks across splits.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251960" y="4754880"/>
            <a:ext cx="54864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416552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policy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416552" y="50749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detected face stored separately; per-face softmax mean-pooled to image level.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46720" y="4754880"/>
            <a:ext cx="54864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8211312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No-face fallback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211312" y="50749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face_detected_flag=0 -&gt; fusion MLP falls back on a neutral training-prior.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Completed (Notebooks 01 - 03)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Sameer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unified msctd_master.csv (En-De pooled)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70/15/15 SCENE-level split (seed 42)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plots: class dist, split dist, sample faces, text length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5532120"/>
            <a:ext cx="36576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5596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5852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data/processed/msctd_master.csv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146304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279392" y="1463040"/>
            <a:ext cx="36576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462272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285232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Extraction (MTCNN)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85232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Harshitha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07992" y="24231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facenet-pytorch MTCNN over every image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 face crops -&gt; data/faces/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num_faces and face_detected_flag per image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79392" y="5532120"/>
            <a:ext cx="36576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07992" y="5596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07992" y="5852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data/processed/face_metadata.csv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1584" y="146304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101584" y="1463040"/>
            <a:ext cx="36576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84464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107424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Model (ResNet-18)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07424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Harshitha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30184" y="24231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ResNet-18, class-weighted CE, 15 epochs, lr 1e-4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(n=6,564 face crops):  acc 0.382  /  macro-F1 0.378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 neutral (F1 0.42), worst positive (F1 0.32)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5532120"/>
            <a:ext cx="365760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330184" y="5596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30184" y="5852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outputs/model_checkpoints/face_resnet18.pth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IN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Running - Notebook 04: Augmentation &amp; Robustness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Three-experiment robustness study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Sai Teja (with Harshitha for the face checkpoint)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2677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original  -&gt;  test original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2542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(NB03)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235000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212080" y="2350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044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original  -&gt;  test degraded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3319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quantified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312724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212080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mixed (orig + degraded)  -&gt;  test both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4096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pending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390448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212080" y="3904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families (severities 0.25 / 0.50 / 0.75)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2120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blur, additive noise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downscale, perspective, rotation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shift, gamma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1417320"/>
            <a:ext cx="5029200" cy="4937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94944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so far (face-level, n=6,564)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920240"/>
          <a:ext cx="46634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Macro-F1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  orig -&gt; orig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0.382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0.378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C0BE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B  orig -&gt; degraded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0.357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0.322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C0BE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  mixed -&gt; orig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---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---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</a:rPr>
                        <a:t>running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  mixed -&gt; degraded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---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---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</a:rPr>
                        <a:t>running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949440" y="4023360"/>
            <a:ext cx="4663440" cy="2194560"/>
          </a:xfrm>
          <a:prstGeom prst="rect">
            <a:avLst/>
          </a:prstGeom>
          <a:solidFill>
            <a:srgbClr val="0B1F3A"/>
          </a:solidFill>
          <a:ln w="127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7086600" y="4114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so far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086600" y="443484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degradation the unaugmented model collapses toward 'negative':  recall jumps to 0.70 while neutral/positive recall fall to ~0.18-0.20.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motivates Experiment C - augmented training should restore neutral/positive recall without losing original-test performance.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Quantitative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 -  face_resnet18 on the held-out test split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7772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463040"/>
            <a:ext cx="32004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73252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32520" y="1920240"/>
            <a:ext cx="2926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Face-only is weak (acc 0.382) - by design: scene context is missing.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wins on original images; collapses under degradation.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recall spikes to 0.70 on degraded data: model is over-predicting one class.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drops 0.378  -&gt;  0.322  =  -15% relative.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training (Exp C) and the full-image / fusion stages are designed to close these gaps.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WHO DOES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Distribution Across the Group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one stage end-to-end - but every member must understand the whole pipeline (oral exam = 40%).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34015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artefacts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Shaik Sameer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6944091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prep, repo &amp; log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msctd_master.csv, EDA plots, GitHub repo, weekly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Ammineni Harshitha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6952560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extraction &amp; face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Notebooks 02, 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face_metadata.csv, face_resnet18.pth, predictions, CMs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Tharigopula Sai Teja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6945944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 &amp; robustness experiments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degraded_faces/, face_resnet18_augmented.pth, robustness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Kakumanu Ravi Teja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6905377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Full-image transfer-learning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full_image_resnet50_mlp.pth, image-level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Mosi Curran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6946833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model + multimodal CLIP (extra credit)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Notebooks 06, 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fusion_mlp.pth, clip_multimodal_classifier.pth, final_model_comparison.csv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Person Will Finish &amp; By When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0972800" cy="0"/>
          </a:xfrm>
          <a:prstGeom prst="line">
            <a:avLst/>
          </a:prstGeom>
          <a:noFill/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0" cy="109728"/>
          </a:xfrm>
          <a:prstGeom prst="line">
            <a:avLst/>
          </a:prstGeom>
          <a:noFill/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/>
              <a:t>Phase1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1050" b="1" baseline="30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2286000"/>
            <a:ext cx="0" cy="109728"/>
          </a:xfrm>
          <a:prstGeom prst="line">
            <a:avLst/>
          </a:prstGeom>
          <a:noFill/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1st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0" y="2286000"/>
            <a:ext cx="0" cy="109728"/>
          </a:xfrm>
          <a:prstGeom prst="line">
            <a:avLst/>
          </a:prstGeom>
          <a:noFill/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050" b="1" baseline="30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April 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0" y="2286000"/>
            <a:ext cx="0" cy="109728"/>
          </a:xfrm>
          <a:prstGeom prst="line">
            <a:avLst/>
          </a:prstGeom>
          <a:noFill/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050" b="1" baseline="30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April 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26880" y="2286000"/>
            <a:ext cx="0" cy="109728"/>
          </a:xfrm>
          <a:prstGeom prst="line">
            <a:avLst/>
          </a:prstGeom>
          <a:noFill/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8696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phase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May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0" y="2697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Teja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 -  finish Experiment C eval + robustness table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34640" y="26974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by 30</a:t>
            </a:r>
            <a:r>
              <a:rPr lang="en-US" sz="900" i="1" baseline="30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32186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Teja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84832" y="3218688"/>
            <a:ext cx="3511296" cy="41148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176272" y="3218688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NB05  -  full-image ResNet-50 + MLP head training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87568" y="3218688"/>
            <a:ext cx="5925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17</a:t>
            </a:r>
            <a:r>
              <a:rPr lang="en-US" sz="900" i="1" baseline="30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37398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 Curran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98848" y="3739896"/>
            <a:ext cx="3072384" cy="41148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90288" y="3739896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 -  late-fusion MLP + final comparison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62672" y="3739896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27</a:t>
            </a:r>
            <a:r>
              <a:rPr lang="en-US" sz="900" i="1" baseline="30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0" y="42611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 Curran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54496" y="4261104"/>
            <a:ext cx="3072384" cy="411480"/>
          </a:xfrm>
          <a:prstGeom prst="roundRect">
            <a:avLst>
              <a:gd name="adj" fmla="val 11111"/>
            </a:avLst>
          </a:prstGeom>
          <a:solidFill>
            <a:srgbClr val="5BC0BE"/>
          </a:solidFill>
          <a:ln w="127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345936" y="4261104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NB07  -  CLIP multimodal (extra credit)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418320" y="42611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Wed 11</a:t>
            </a:r>
            <a:r>
              <a:rPr lang="en-US" sz="900" i="1" baseline="30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47823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+ Sai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0" y="4782312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5A6776"/>
          </a:solidFill>
          <a:ln w="1270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834640" y="4782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face training with best aug. config (if time)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478231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by 12</a:t>
            </a:r>
            <a:r>
              <a:rPr lang="en-US" sz="900" i="1" baseline="30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9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5303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10972800" cy="411480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0080" y="5303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hygiene, weekly logs, README, viva-prep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0" y="5824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0" y="5824728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8321040" y="5824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report draft  +  final 5-min slides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6309360"/>
            <a:ext cx="164592" cy="1645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777240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0" y="6309360"/>
            <a:ext cx="16459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3154680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deliverable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03520" y="6309360"/>
            <a:ext cx="164592" cy="164592"/>
          </a:xfrm>
          <a:prstGeom prst="rect">
            <a:avLst/>
          </a:prstGeom>
          <a:solidFill>
            <a:srgbClr val="5BC0BE"/>
          </a:solidFill>
          <a:ln w="127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5532120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credit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80960" y="6309360"/>
            <a:ext cx="164592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7909560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/ shared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Activity, Weekly Logs &amp; Reproducibility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200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EEEM068-Human-Sentiment-Analysis (private)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'elsobhano' invited as collaborator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Branching: feature/&lt;name&gt;-&lt;topic&gt;  -&gt;  PR  -&gt;  main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commits, e.g.  feat(nb03): face model first pass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65760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462272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logs (logs/week_N/)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07992" y="2240280"/>
            <a:ext cx="3200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&lt;name&gt;_log.md per member, every week from week 7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tasks, commits, hyperparameters, results, blockers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form:  logs(week_N): &lt;name&gt; - &lt;summary&gt;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/ Sobhan can audit individual contribution from logs + git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657600" cy="548640"/>
          </a:xfrm>
          <a:prstGeom prst="rect">
            <a:avLst/>
          </a:prstGeom>
          <a:solidFill>
            <a:srgbClr val="5BC0BE"/>
          </a:solidFill>
          <a:ln w="127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284464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210312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330184" y="2240280"/>
            <a:ext cx="3200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config in src/config.py (paths, seeds, hyperparams)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src.utils.seed_everything(42) at the top of every notebook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versioned in outputs/ ; checkpoints in model_checkpoints/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scripts/setup_data.* for one-click data download + verify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this week: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commits at least one weekly log + one feature branch PR. Lab-hours check-in with Dr. Asasi to confirm direction.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EEEM068 Applied Machine Learning  -  University of Surrey  -  Spring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C0BE"/>
          </a:solidFill>
          <a:ln w="127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Asks &amp; Thank You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we are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training: NB04-07 each take hours; we have planned around it but slip risk is real.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model is barely above chance on its own; the value comes from fusion in NB06.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+ many neutral mild expressions may cap performance on neutral.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MSCTD images sometimes contain no detectable face -&gt; we rely on the no-face fallback path.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the instructor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scope of the 'extra credit' multimodal CLIP task is acceptable as Notebook 07.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the late-fusion architecture (face_probs + image_probs + num_faces + flag).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Lab-hours slot to walk through the face-model error analysis.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GitHub access (elsobhano) - if not visible, please flag so we can re-invite.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6035040"/>
            <a:ext cx="10972800" cy="0"/>
          </a:xfrm>
          <a:prstGeom prst="line">
            <a:avLst/>
          </a:prstGeom>
          <a:noFill/>
          <a:ln w="25400">
            <a:solidFill>
              <a:srgbClr val="5BC0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-  questions welcome.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6199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  /  Harshitha  /  Sai Teja  /  Ravi Teja  /  Mosi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1574</Words>
  <Application>Microsoft Office PowerPoint</Application>
  <PresentationFormat>Widescreen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Project Progress - Week 10</dc:title>
  <dc:subject>PptxGenJS Presentation</dc:subject>
  <dc:creator>EEEM068 Group - Human Sentiment Analysis</dc:creator>
  <cp:lastModifiedBy>Dharani Gandra (Student)</cp:lastModifiedBy>
  <cp:revision>2</cp:revision>
  <dcterms:created xsi:type="dcterms:W3CDTF">2026-04-25T17:38:25Z</dcterms:created>
  <dcterms:modified xsi:type="dcterms:W3CDTF">2026-04-25T18:01:49Z</dcterms:modified>
</cp:coreProperties>
</file>